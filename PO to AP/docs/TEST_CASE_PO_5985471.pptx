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71AE32-85F3-4CC6-9155-65E22DF397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8AA9BD-1778-46D6-806A-7F34BA468C1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6CB22E0-4AB2-48DF-8820-EE074FCD47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577F6EF-C032-4CA9-939F-31CA5730E6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9FEED01-FEBD-46D5-94F4-F081184E5D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42F9B83-53D9-41A3-9CF4-F3B000A901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526CBA82-2EBE-43CB-BF33-1742B4787D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A116DAC-060A-440D-B772-CD892402B92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276ACDB-6E60-40E0-BF57-9D53056C60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F37A228-7D78-47CC-AB20-EEC64B75679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888429BF-59E4-4FA1-9EAB-1EF6F3DCC3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EAAA2F-921A-477B-A6D5-D3FF092AFDD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756C50A-7829-4C8C-98BD-BCEE4683569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2BAC65-9B2B-4E3A-9A2D-A4C687BAA8F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8B7BE8F-99FE-4CCE-84A6-D42F1681338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750DBD-21B9-4369-9059-25D6502C933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E566BEB-F63D-4155-867F-A2BA282A4A4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8B799F1-51B7-4596-BD92-44ECD4D3B08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86A5495-38A5-418A-90F7-36E8BA75F52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85017E-876E-45F3-AF07-0FAD9D446E8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142EDC-9B36-4E69-9CAB-6503FCBCA73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427286-2DFD-46FE-8778-A11ACA77927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3474720"/>
            <a:ext cx="12188520" cy="7272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914400" y="1097280"/>
            <a:ext cx="100580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PO-AP Interface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914400" y="2103120"/>
            <a:ext cx="100580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3000" spc="-1" strike="noStrike">
                <a:solidFill>
                  <a:srgbClr val="bdd7ee"/>
                </a:solidFill>
                <a:latin typeface="Calibri"/>
              </a:rPr>
              <a:t>Test Case — PO 5985471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914400" y="3749040"/>
            <a:ext cx="10058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600" spc="-1" strike="noStrike">
                <a:solidFill>
                  <a:srgbClr val="bdd7ee"/>
                </a:solidFill>
                <a:latin typeface="Calibri"/>
              </a:rPr>
              <a:t>Oracle EBS R12.2  |  Receipt-to-Invoice &amp; RTV-to-Credit-Memo Interface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914400" y="4343400"/>
            <a:ext cx="10058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dc3e6"/>
                </a:solidFill>
                <a:latin typeface="Calibri"/>
              </a:rPr>
              <a:t>Test Date: 29-Apr-2026   |   Run IDs: INV-20260429122004 / RTV-20260429122055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12188520" cy="105120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320040" y="109800"/>
            <a:ext cx="10972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Agenda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angle 3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274320" y="6556320"/>
            <a:ext cx="11429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bdd7ee"/>
                </a:solidFill>
                <a:latin typeface="Calibri"/>
              </a:rPr>
              <a:t>PO-AP Interface | Test Case PO 5985471 | Oracle EBS R12.2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5"/>
          <p:cNvSpPr/>
          <p:nvPr/>
        </p:nvSpPr>
        <p:spPr>
          <a:xfrm>
            <a:off x="2286000" y="1280160"/>
            <a:ext cx="7772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62626"/>
                </a:solidFill>
                <a:latin typeface="Calibri"/>
              </a:rPr>
              <a:t>1.  Test Overview &amp; Pre-Conditions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6"/>
          <p:cNvSpPr/>
          <p:nvPr/>
        </p:nvSpPr>
        <p:spPr>
          <a:xfrm>
            <a:off x="2286000" y="1847160"/>
            <a:ext cx="7772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62626"/>
                </a:solidFill>
                <a:latin typeface="Calibri"/>
              </a:rPr>
              <a:t>2.  Process A — Receipt-to-Invoice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7"/>
          <p:cNvSpPr/>
          <p:nvPr/>
        </p:nvSpPr>
        <p:spPr>
          <a:xfrm>
            <a:off x="2286000" y="2414160"/>
            <a:ext cx="7772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62626"/>
                </a:solidFill>
                <a:latin typeface="Calibri"/>
              </a:rPr>
              <a:t>3.  RTV Netting — Line 75 (Key Scenario)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8"/>
          <p:cNvSpPr/>
          <p:nvPr/>
        </p:nvSpPr>
        <p:spPr>
          <a:xfrm>
            <a:off x="2286000" y="2980800"/>
            <a:ext cx="7772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62626"/>
                </a:solidFill>
                <a:latin typeface="Calibri"/>
              </a:rPr>
              <a:t>4.  Process B — RTV-to-Credit-Memo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9"/>
          <p:cNvSpPr/>
          <p:nvPr/>
        </p:nvSpPr>
        <p:spPr>
          <a:xfrm>
            <a:off x="2286000" y="3547800"/>
            <a:ext cx="7772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62626"/>
                </a:solidFill>
                <a:latin typeface="Calibri"/>
              </a:rPr>
              <a:t>5.  Duplicate Prevention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2286000" y="4114800"/>
            <a:ext cx="7772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62626"/>
                </a:solidFill>
                <a:latin typeface="Calibri"/>
              </a:rPr>
              <a:t>6.  EBS UI Evidence — Standard Invoice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11"/>
          <p:cNvSpPr/>
          <p:nvPr/>
        </p:nvSpPr>
        <p:spPr>
          <a:xfrm>
            <a:off x="2286000" y="4681800"/>
            <a:ext cx="7772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62626"/>
                </a:solidFill>
                <a:latin typeface="Calibri"/>
              </a:rPr>
              <a:t>7.  EBS UI Evidence — Credit Memo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12"/>
          <p:cNvSpPr/>
          <p:nvPr/>
        </p:nvSpPr>
        <p:spPr>
          <a:xfrm>
            <a:off x="2286000" y="5248800"/>
            <a:ext cx="7772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62626"/>
                </a:solidFill>
                <a:latin typeface="Calibri"/>
              </a:rPr>
              <a:t>8.  Summary &amp; Net AP Balance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0"/>
            <a:ext cx="12188520" cy="105120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320040" y="109800"/>
            <a:ext cx="10972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Test Overview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320040" y="658440"/>
            <a:ext cx="10972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dd7ee"/>
                </a:solidFill>
                <a:latin typeface="Calibri"/>
              </a:rPr>
              <a:t>PO 5985471 — BLANKET PO, Vendor 13001, Currency INR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5"/>
          <p:cNvSpPr/>
          <p:nvPr/>
        </p:nvSpPr>
        <p:spPr>
          <a:xfrm>
            <a:off x="274320" y="6556320"/>
            <a:ext cx="11429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bdd7ee"/>
                </a:solidFill>
                <a:latin typeface="Calibri"/>
              </a:rPr>
              <a:t>PO-AP Interface | Test Case PO 5985471 | Oracle EBS R12.2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0" name="Table 6"/>
          <p:cNvGraphicFramePr/>
          <p:nvPr/>
        </p:nvGraphicFramePr>
        <p:xfrm>
          <a:off x="829440" y="1286280"/>
          <a:ext cx="5303160" cy="438876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4874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Field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Value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PO Number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5985471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PO Type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BLANKET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Vendor ID / Site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13001 / 14023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Currency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INR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Legacy PO Header ID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6443887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Total Releases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5,558 across 104 lines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Unbilled w/ Receipts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35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RTVs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  (Line 75, qty=10)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" name="TextBox 7"/>
          <p:cNvSpPr/>
          <p:nvPr/>
        </p:nvSpPr>
        <p:spPr>
          <a:xfrm>
            <a:off x="6035040" y="1188720"/>
            <a:ext cx="57603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f4e79"/>
                </a:solidFill>
                <a:latin typeface="Calibri"/>
              </a:rPr>
              <a:t>Pre-Conditions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8"/>
          <p:cNvSpPr/>
          <p:nvPr/>
        </p:nvSpPr>
        <p:spPr>
          <a:xfrm>
            <a:off x="6035040" y="1645920"/>
            <a:ext cx="576036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PO exists in legacy with cancel_flag = 'N'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Vendor 13001 present in new AP_SUPPLIERS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43 releases have qty_billed &lt; qty_ordered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35 of 43 have at least 1 RECEIVE transaction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1 RETURN TO VENDOR on Line 75 (qty=10, 02-Apr-26)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12188520" cy="105120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320040" y="109800"/>
            <a:ext cx="10972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Process A — Receipt-to-Invoice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320040" y="658440"/>
            <a:ext cx="10972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dd7ee"/>
                </a:solidFill>
                <a:latin typeface="Calibri"/>
              </a:rPr>
              <a:t>Creates STANDARD AP Invoices from PO Receipts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5"/>
          <p:cNvSpPr/>
          <p:nvPr/>
        </p:nvSpPr>
        <p:spPr>
          <a:xfrm>
            <a:off x="274320" y="6556320"/>
            <a:ext cx="11429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bdd7ee"/>
                </a:solidFill>
                <a:latin typeface="Calibri"/>
              </a:rPr>
              <a:t>PO-AP Interface | Test Case PO 5985471 | Oracle EBS R12.2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8" name="Table 6"/>
          <p:cNvGraphicFramePr/>
          <p:nvPr/>
        </p:nvGraphicFramePr>
        <p:xfrm>
          <a:off x="365760" y="1188720"/>
          <a:ext cx="11429640" cy="3657240"/>
        </p:xfrm>
        <a:graphic>
          <a:graphicData uri="http://schemas.openxmlformats.org/drawingml/2006/table">
            <a:tbl>
              <a:tblPr/>
              <a:tblGrid>
                <a:gridCol w="2857320"/>
                <a:gridCol w="2857320"/>
                <a:gridCol w="2857320"/>
                <a:gridCol w="2857320"/>
              </a:tblGrid>
              <a:tr h="5223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Test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Description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Expected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Result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</a:tr>
              <a:tr h="5223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TC-A1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Invoices created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35 STANDARD invoices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378644"/>
                          </a:solidFill>
                          <a:latin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5223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TC-A1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Log status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35 × PROCESSED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378644"/>
                          </a:solidFill>
                          <a:latin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23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TC-A1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Errors / Rejects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378644"/>
                          </a:solidFill>
                          <a:latin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5223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TC-A2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Fully billed excluded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5,515 releases skipped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378644"/>
                          </a:solidFill>
                          <a:latin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23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TC-A3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RTV netting — Line 75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Net qty = 1,490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378644"/>
                          </a:solidFill>
                          <a:latin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5223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TC-A4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Standard invoice — Line 4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STANDARD, amt = 6,234.64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378644"/>
                          </a:solidFill>
                          <a:latin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" name="TextBox 7"/>
          <p:cNvSpPr/>
          <p:nvPr/>
        </p:nvSpPr>
        <p:spPr>
          <a:xfrm>
            <a:off x="365760" y="5029200"/>
            <a:ext cx="11429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595959"/>
                </a:solidFill>
                <a:latin typeface="Calibri"/>
              </a:rPr>
              <a:t>Key rule: quantity_billed &lt; quantity_ordered filter ensures only unbilled releases are invoiced.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0" y="0"/>
            <a:ext cx="12188520" cy="105120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320040" y="109800"/>
            <a:ext cx="10972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RTV Netting — Line 75 (KODUBALE 30 GM)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3"/>
          <p:cNvSpPr/>
          <p:nvPr/>
        </p:nvSpPr>
        <p:spPr>
          <a:xfrm>
            <a:off x="320040" y="658440"/>
            <a:ext cx="10972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dd7ee"/>
                </a:solidFill>
                <a:latin typeface="Calibri"/>
              </a:rPr>
              <a:t>TC-A3: Pre-invoice RTV netted from receipt quantity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5"/>
          <p:cNvSpPr/>
          <p:nvPr/>
        </p:nvSpPr>
        <p:spPr>
          <a:xfrm>
            <a:off x="274320" y="6556320"/>
            <a:ext cx="11429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bdd7ee"/>
                </a:solidFill>
                <a:latin typeface="Calibri"/>
              </a:rPr>
              <a:t>PO-AP Interface | Test Case PO 5985471 | Oracle EBS R12.2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ectangle 6"/>
          <p:cNvSpPr/>
          <p:nvPr/>
        </p:nvSpPr>
        <p:spPr>
          <a:xfrm>
            <a:off x="457200" y="1371600"/>
            <a:ext cx="2377080" cy="127980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7"/>
          <p:cNvSpPr/>
          <p:nvPr/>
        </p:nvSpPr>
        <p:spPr>
          <a:xfrm>
            <a:off x="548640" y="1508760"/>
            <a:ext cx="21942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RECEIVE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01-Apr-26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Qty = 1,500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ectangle 8"/>
          <p:cNvSpPr/>
          <p:nvPr/>
        </p:nvSpPr>
        <p:spPr>
          <a:xfrm>
            <a:off x="3474720" y="1371600"/>
            <a:ext cx="2377080" cy="127980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9"/>
          <p:cNvSpPr/>
          <p:nvPr/>
        </p:nvSpPr>
        <p:spPr>
          <a:xfrm>
            <a:off x="3566160" y="1508760"/>
            <a:ext cx="21942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RTV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02-Apr-26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Qty = 10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ectangle 10"/>
          <p:cNvSpPr/>
          <p:nvPr/>
        </p:nvSpPr>
        <p:spPr>
          <a:xfrm>
            <a:off x="6492240" y="1371600"/>
            <a:ext cx="2377080" cy="1279800"/>
          </a:xfrm>
          <a:prstGeom prst="rect">
            <a:avLst/>
          </a:prstGeom>
          <a:solidFill>
            <a:srgbClr val="3786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11"/>
          <p:cNvSpPr/>
          <p:nvPr/>
        </p:nvSpPr>
        <p:spPr>
          <a:xfrm>
            <a:off x="6583680" y="1508760"/>
            <a:ext cx="21942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Net Qty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1,500 − 10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= 1,490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ectangle 12"/>
          <p:cNvSpPr/>
          <p:nvPr/>
        </p:nvSpPr>
        <p:spPr>
          <a:xfrm>
            <a:off x="9509760" y="1371600"/>
            <a:ext cx="2377080" cy="127980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13"/>
          <p:cNvSpPr/>
          <p:nvPr/>
        </p:nvSpPr>
        <p:spPr>
          <a:xfrm>
            <a:off x="9601200" y="1508760"/>
            <a:ext cx="21942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Invoice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RCPT-6797774-L075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STANDARD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14"/>
          <p:cNvSpPr/>
          <p:nvPr/>
        </p:nvSpPr>
        <p:spPr>
          <a:xfrm>
            <a:off x="2834640" y="1691640"/>
            <a:ext cx="639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2e75b6"/>
                </a:solidFill>
                <a:latin typeface="Calibri"/>
              </a:rPr>
              <a:t>→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15"/>
          <p:cNvSpPr/>
          <p:nvPr/>
        </p:nvSpPr>
        <p:spPr>
          <a:xfrm>
            <a:off x="5852160" y="1691640"/>
            <a:ext cx="639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2e75b6"/>
                </a:solidFill>
                <a:latin typeface="Calibri"/>
              </a:rPr>
              <a:t>→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16"/>
          <p:cNvSpPr/>
          <p:nvPr/>
        </p:nvSpPr>
        <p:spPr>
          <a:xfrm>
            <a:off x="8869680" y="1691640"/>
            <a:ext cx="639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2e75b6"/>
                </a:solidFill>
                <a:latin typeface="Calibri"/>
              </a:rPr>
              <a:t>→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6" name="Table 17"/>
          <p:cNvGraphicFramePr/>
          <p:nvPr/>
        </p:nvGraphicFramePr>
        <p:xfrm>
          <a:off x="1371600" y="3017520"/>
          <a:ext cx="9143640" cy="2559960"/>
        </p:xfrm>
        <a:graphic>
          <a:graphicData uri="http://schemas.openxmlformats.org/drawingml/2006/table">
            <a:tbl>
              <a:tblPr/>
              <a:tblGrid>
                <a:gridCol w="3047760"/>
                <a:gridCol w="3047760"/>
                <a:gridCol w="3047760"/>
              </a:tblGrid>
              <a:tr h="5119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Component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Calculation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Amount (INR)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ITEM line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1,490 × 7.11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10,593.90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CGST 2.5%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10,593.90 × 2.5%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266.63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SGST 2.5%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10,593.90 × 2.5%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266.63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Total Invoice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11,127.16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7" name="TextBox 18"/>
          <p:cNvSpPr/>
          <p:nvPr/>
        </p:nvSpPr>
        <p:spPr>
          <a:xfrm>
            <a:off x="365760" y="5760720"/>
            <a:ext cx="11429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595959"/>
                </a:solidFill>
                <a:latin typeface="Calibri"/>
              </a:rPr>
              <a:t>Invoice description includes: "Net of RTV: 10"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0" y="0"/>
            <a:ext cx="12188520" cy="105120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2"/>
          <p:cNvSpPr/>
          <p:nvPr/>
        </p:nvSpPr>
        <p:spPr>
          <a:xfrm>
            <a:off x="320040" y="109800"/>
            <a:ext cx="10972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Process B — RTV-to-Credit-Memo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3"/>
          <p:cNvSpPr/>
          <p:nvPr/>
        </p:nvSpPr>
        <p:spPr>
          <a:xfrm>
            <a:off x="320040" y="658440"/>
            <a:ext cx="10972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dd7ee"/>
                </a:solidFill>
                <a:latin typeface="Calibri"/>
              </a:rPr>
              <a:t>Post-invoice RTVs generate CREDIT type invoices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TextBox 5"/>
          <p:cNvSpPr/>
          <p:nvPr/>
        </p:nvSpPr>
        <p:spPr>
          <a:xfrm>
            <a:off x="274320" y="6556320"/>
            <a:ext cx="11429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bdd7ee"/>
                </a:solidFill>
                <a:latin typeface="Calibri"/>
              </a:rPr>
              <a:t>PO-AP Interface | Test Case PO 5985471 | Oracle EBS R12.2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6"/>
          <p:cNvSpPr/>
          <p:nvPr/>
        </p:nvSpPr>
        <p:spPr>
          <a:xfrm>
            <a:off x="365760" y="1188720"/>
            <a:ext cx="5486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f4e79"/>
                </a:solidFill>
                <a:latin typeface="Calibri"/>
              </a:rPr>
              <a:t>Test Results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4" name="Table 7"/>
          <p:cNvGraphicFramePr/>
          <p:nvPr/>
        </p:nvGraphicFramePr>
        <p:xfrm>
          <a:off x="365760" y="1645920"/>
          <a:ext cx="5668920" cy="4388760"/>
        </p:xfrm>
        <a:graphic>
          <a:graphicData uri="http://schemas.openxmlformats.org/drawingml/2006/table">
            <a:tbl>
              <a:tblPr/>
              <a:tblGrid>
                <a:gridCol w="1889640"/>
                <a:gridCol w="1889640"/>
                <a:gridCol w="1889640"/>
              </a:tblGrid>
              <a:tr h="4874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Test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Expected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Result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TC-B1: Credit Memo created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 CREDIT invoice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378644"/>
                          </a:solidFill>
                          <a:latin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TC-B1: Invoice num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CM-RCPT-6797774-L075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378644"/>
                          </a:solidFill>
                          <a:latin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TC-B1: References original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Desc: Original Invoice: …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378644"/>
                          </a:solidFill>
                          <a:latin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TC-B2: Header amount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-74.66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378644"/>
                          </a:solidFill>
                          <a:latin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TC-B2: ITEM line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-71.10, qty=10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378644"/>
                          </a:solidFill>
                          <a:latin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TC-B2: CGST line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-1.78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378644"/>
                          </a:solidFill>
                          <a:latin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TC-B2: SGST line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-1.78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378644"/>
                          </a:solidFill>
                          <a:latin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TC-B3: Scenario A skips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378644"/>
                          </a:solidFill>
                          <a:latin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5" name="TextBox 8"/>
          <p:cNvSpPr/>
          <p:nvPr/>
        </p:nvSpPr>
        <p:spPr>
          <a:xfrm>
            <a:off x="6309360" y="1188720"/>
            <a:ext cx="5486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f4e79"/>
                </a:solidFill>
                <a:latin typeface="Calibri"/>
              </a:rPr>
              <a:t>Credit Memo Breakdown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6" name="Table 9"/>
          <p:cNvGraphicFramePr/>
          <p:nvPr/>
        </p:nvGraphicFramePr>
        <p:xfrm>
          <a:off x="6309360" y="1645920"/>
          <a:ext cx="5486040" cy="255996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5119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Line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Type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Amount (INR)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CCID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75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ITEM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-71.10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5028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7501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TAX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-1.78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5028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7502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TAX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-1.78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5028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HDR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TOTAL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-74.66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—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7" name="TextBox 10"/>
          <p:cNvSpPr/>
          <p:nvPr/>
        </p:nvSpPr>
        <p:spPr>
          <a:xfrm>
            <a:off x="6309360" y="4389120"/>
            <a:ext cx="5486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595959"/>
                </a:solidFill>
                <a:latin typeface="Calibri"/>
              </a:rPr>
              <a:t>RTV qty = 10  |  Unit price = 7.11  |  CGST/SGST 2.5% each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0"/>
            <a:ext cx="12188520" cy="105120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2"/>
          <p:cNvSpPr/>
          <p:nvPr/>
        </p:nvSpPr>
        <p:spPr>
          <a:xfrm>
            <a:off x="320040" y="109800"/>
            <a:ext cx="10972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Duplicate Prevention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3"/>
          <p:cNvSpPr/>
          <p:nvPr/>
        </p:nvSpPr>
        <p:spPr>
          <a:xfrm>
            <a:off x="320040" y="658440"/>
            <a:ext cx="10972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dd7ee"/>
                </a:solidFill>
                <a:latin typeface="Calibri"/>
              </a:rPr>
              <a:t>Re-running either process must not create duplicate records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TextBox 5"/>
          <p:cNvSpPr/>
          <p:nvPr/>
        </p:nvSpPr>
        <p:spPr>
          <a:xfrm>
            <a:off x="274320" y="6556320"/>
            <a:ext cx="11429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bdd7ee"/>
                </a:solidFill>
                <a:latin typeface="Calibri"/>
              </a:rPr>
              <a:t>PO-AP Interface | Test Case PO 5985471 | Oracle EBS R12.2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3" name="Table 6"/>
          <p:cNvGraphicFramePr/>
          <p:nvPr/>
        </p:nvGraphicFramePr>
        <p:xfrm>
          <a:off x="365760" y="1371600"/>
          <a:ext cx="11429640" cy="2011320"/>
        </p:xfrm>
        <a:graphic>
          <a:graphicData uri="http://schemas.openxmlformats.org/drawingml/2006/table">
            <a:tbl>
              <a:tblPr/>
              <a:tblGrid>
                <a:gridCol w="2857320"/>
                <a:gridCol w="2857320"/>
                <a:gridCol w="2857320"/>
                <a:gridCol w="2857320"/>
              </a:tblGrid>
              <a:tr h="6703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Test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Action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Expected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Result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</a:tr>
              <a:tr h="6703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TC-D1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Re-run Process A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 new invoices; 35 REJECTED as duplicate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378644"/>
                          </a:solidFill>
                          <a:latin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6703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TC-D2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Re-run Process B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 new credit memos; RTV REJECTED as duplicate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378644"/>
                          </a:solidFill>
                          <a:latin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4" name="TextBox 7"/>
          <p:cNvSpPr/>
          <p:nvPr/>
        </p:nvSpPr>
        <p:spPr>
          <a:xfrm>
            <a:off x="365760" y="3657600"/>
            <a:ext cx="11429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f4e79"/>
                </a:solidFill>
                <a:latin typeface="Calibri"/>
              </a:rPr>
              <a:t>How it works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8"/>
          <p:cNvSpPr/>
          <p:nvPr/>
        </p:nvSpPr>
        <p:spPr>
          <a:xfrm>
            <a:off x="365760" y="4114800"/>
            <a:ext cx="1142964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262626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262626"/>
                </a:solidFill>
                <a:latin typeface="Calibri"/>
              </a:rPr>
              <a:t>Process A checks AP_INVOICES_INTERFACE for existing invoice_num before inserting.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262626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262626"/>
                </a:solidFill>
                <a:latin typeface="Calibri"/>
              </a:rPr>
              <a:t>Process B checks for existing CM-prefixed invoice_num before creating a credit memo.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262626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262626"/>
                </a:solidFill>
                <a:latin typeface="Calibri"/>
              </a:rPr>
              <a:t>Both processes log REJECTED status with reason in XXCUST_PO_AP_INTERFACE_LOG.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"/>
          <p:cNvSpPr/>
          <p:nvPr/>
        </p:nvSpPr>
        <p:spPr>
          <a:xfrm>
            <a:off x="0" y="0"/>
            <a:ext cx="12188520" cy="105120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extBox 2"/>
          <p:cNvSpPr/>
          <p:nvPr/>
        </p:nvSpPr>
        <p:spPr>
          <a:xfrm>
            <a:off x="320040" y="109800"/>
            <a:ext cx="10972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EBS UI — Standard Invoice (Process A)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3"/>
          <p:cNvSpPr/>
          <p:nvPr/>
        </p:nvSpPr>
        <p:spPr>
          <a:xfrm>
            <a:off x="320040" y="658440"/>
            <a:ext cx="10972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dd7ee"/>
                </a:solidFill>
                <a:latin typeface="Calibri"/>
              </a:rPr>
              <a:t>Oracle AP module showing imported STANDARD invoice for PO 5985471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TextBox 5"/>
          <p:cNvSpPr/>
          <p:nvPr/>
        </p:nvSpPr>
        <p:spPr>
          <a:xfrm>
            <a:off x="274320" y="6556320"/>
            <a:ext cx="11429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bdd7ee"/>
                </a:solidFill>
                <a:latin typeface="Calibri"/>
              </a:rPr>
              <a:t>PO-AP Interface | Test Case PO 5985471 | Oracle EBS R12.2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1" name="Picture 6" descr="processed_po.png"/>
          <p:cNvPicPr/>
          <p:nvPr/>
        </p:nvPicPr>
        <p:blipFill>
          <a:blip r:embed="rId1"/>
          <a:stretch/>
        </p:blipFill>
        <p:spPr>
          <a:xfrm>
            <a:off x="457200" y="1188720"/>
            <a:ext cx="11246760" cy="6326280"/>
          </a:xfrm>
          <a:prstGeom prst="rect">
            <a:avLst/>
          </a:prstGeom>
          <a:ln w="0">
            <a:noFill/>
          </a:ln>
        </p:spPr>
      </p:pic>
      <p:sp>
        <p:nvSpPr>
          <p:cNvPr id="142" name="TextBox 7"/>
          <p:cNvSpPr/>
          <p:nvPr/>
        </p:nvSpPr>
        <p:spPr>
          <a:xfrm>
            <a:off x="365760" y="6263640"/>
            <a:ext cx="11429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595959"/>
                </a:solidFill>
                <a:latin typeface="Calibri"/>
              </a:rPr>
              <a:t>Invoice RCPT-6797774-L075  |  Type: STANDARD  |  Amount: 11,127.16 INR  |  Status: Validated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"/>
          <p:cNvSpPr/>
          <p:nvPr/>
        </p:nvSpPr>
        <p:spPr>
          <a:xfrm>
            <a:off x="0" y="0"/>
            <a:ext cx="12188520" cy="105120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320040" y="109800"/>
            <a:ext cx="10972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EBS UI — Credit Memo / Return Invoice (Process B)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3"/>
          <p:cNvSpPr/>
          <p:nvPr/>
        </p:nvSpPr>
        <p:spPr>
          <a:xfrm>
            <a:off x="320040" y="658440"/>
            <a:ext cx="10972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dd7ee"/>
                </a:solidFill>
                <a:latin typeface="Calibri"/>
              </a:rPr>
              <a:t>Oracle AP module showing CREDIT invoice created for post-invoice RTV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TextBox 5"/>
          <p:cNvSpPr/>
          <p:nvPr/>
        </p:nvSpPr>
        <p:spPr>
          <a:xfrm>
            <a:off x="274320" y="6556320"/>
            <a:ext cx="11429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bdd7ee"/>
                </a:solidFill>
                <a:latin typeface="Calibri"/>
              </a:rPr>
              <a:t>PO-AP Interface | Test Case PO 5985471 | Oracle EBS R12.2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8" name="Picture 6" descr="processed_rtv.png"/>
          <p:cNvPicPr/>
          <p:nvPr/>
        </p:nvPicPr>
        <p:blipFill>
          <a:blip r:embed="rId1"/>
          <a:stretch/>
        </p:blipFill>
        <p:spPr>
          <a:xfrm>
            <a:off x="457200" y="1188720"/>
            <a:ext cx="11246760" cy="6326280"/>
          </a:xfrm>
          <a:prstGeom prst="rect">
            <a:avLst/>
          </a:prstGeom>
          <a:ln w="0">
            <a:noFill/>
          </a:ln>
        </p:spPr>
      </p:pic>
      <p:sp>
        <p:nvSpPr>
          <p:cNvPr id="149" name="TextBox 7"/>
          <p:cNvSpPr/>
          <p:nvPr/>
        </p:nvSpPr>
        <p:spPr>
          <a:xfrm>
            <a:off x="365760" y="6263640"/>
            <a:ext cx="11429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595959"/>
                </a:solidFill>
                <a:latin typeface="Calibri"/>
              </a:rPr>
              <a:t>Invoice CM-RCPT-6797774-L075  |  Type: CREDIT  |  Amount: -74.66 INR  |  References original invoice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"/>
          <p:cNvSpPr/>
          <p:nvPr/>
        </p:nvSpPr>
        <p:spPr>
          <a:xfrm>
            <a:off x="0" y="0"/>
            <a:ext cx="12188520" cy="105120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TextBox 2"/>
          <p:cNvSpPr/>
          <p:nvPr/>
        </p:nvSpPr>
        <p:spPr>
          <a:xfrm>
            <a:off x="320040" y="109800"/>
            <a:ext cx="10972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Summary — Test Results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3"/>
          <p:cNvSpPr/>
          <p:nvPr/>
        </p:nvSpPr>
        <p:spPr>
          <a:xfrm>
            <a:off x="320040" y="658440"/>
            <a:ext cx="10972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dd7ee"/>
                </a:solidFill>
                <a:latin typeface="Calibri"/>
              </a:rPr>
              <a:t>All test cases passed for PO 5985471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TextBox 5"/>
          <p:cNvSpPr/>
          <p:nvPr/>
        </p:nvSpPr>
        <p:spPr>
          <a:xfrm>
            <a:off x="274320" y="6556320"/>
            <a:ext cx="11429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bdd7ee"/>
                </a:solidFill>
                <a:latin typeface="Calibri"/>
              </a:rPr>
              <a:t>PO-AP Interface | Test Case PO 5985471 | Oracle EBS R12.2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5" name="Table 6"/>
          <p:cNvGraphicFramePr/>
          <p:nvPr/>
        </p:nvGraphicFramePr>
        <p:xfrm>
          <a:off x="365760" y="1188720"/>
          <a:ext cx="11429640" cy="4205880"/>
        </p:xfrm>
        <a:graphic>
          <a:graphicData uri="http://schemas.openxmlformats.org/drawingml/2006/table">
            <a:tbl>
              <a:tblPr/>
              <a:tblGrid>
                <a:gridCol w="2857320"/>
                <a:gridCol w="2857320"/>
                <a:gridCol w="2857320"/>
                <a:gridCol w="2857320"/>
              </a:tblGrid>
              <a:tr h="46728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Metric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Expected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Actual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4e79"/>
                          </a:solidFill>
                          <a:latin typeface="Calibri"/>
                        </a:rPr>
                        <a:t>Match?</a:t>
                      </a:r>
                      <a:endParaRPr b="0" lang="en-IN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</a:tr>
              <a:tr h="46728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Process A: Invoices processed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35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35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378644"/>
                          </a:solidFill>
                          <a:latin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46728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Process A: Total amount (INR)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1,608,217.37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1,608,217.37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378644"/>
                          </a:solidFill>
                          <a:latin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728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Process A: Rejected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378644"/>
                          </a:solidFill>
                          <a:latin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46728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Process A: Skipped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378644"/>
                          </a:solidFill>
                          <a:latin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728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Process B: Credit Memos processed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378644"/>
                          </a:solidFill>
                          <a:latin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46728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Process B: Credit Memo amount (INR)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74.66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74.66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378644"/>
                          </a:solidFill>
                          <a:latin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728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Process B: Skipped (Scenario A)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378644"/>
                          </a:solidFill>
                          <a:latin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46728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Net AP Balance (INR)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1,608,142.71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1,608,142.71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378644"/>
                          </a:solidFill>
                          <a:latin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6" name="TextBox 7"/>
          <p:cNvSpPr/>
          <p:nvPr/>
        </p:nvSpPr>
        <p:spPr>
          <a:xfrm>
            <a:off x="365760" y="5577840"/>
            <a:ext cx="114296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f4e79"/>
                </a:solidFill>
                <a:latin typeface="Calibri"/>
              </a:rPr>
              <a:t>Net AP Balance = 1,608,217.37 − 74.66 = 1,608,142.71 INR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2026-04-30T19:07:03Z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